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3566160"/>
            <a:ext cx="3840480" cy="3840480"/>
          </a:xfrm>
          <a:prstGeom prst="ellipse">
            <a:avLst/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C2A8"/>
                </a:solidFill>
                <a:latin typeface="Calibri"/>
              </a:rPr>
              <a:t>REDROB · INTELLIGENT CANDIDATE DISCOVERY &amp;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FFFFF"/>
                </a:solidFill>
                <a:latin typeface="Georgia"/>
              </a:rPr>
              <a:t>Reading between the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200400"/>
            <a:ext cx="9784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ADCFC"/>
                </a:solidFill>
                <a:latin typeface="Calibri"/>
              </a:rPr>
              <a:t>A candidate ranker that hires the way a great recruiter does —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ADCFC"/>
                </a:solidFill>
                <a:latin typeface="Calibri"/>
              </a:rPr>
              <a:t>by understanding what the role means, not by matching keywords.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9204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0C2A8"/>
                </a:solidFill>
                <a:latin typeface="Georgia"/>
              </a:rPr>
              <a:t>100K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6811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489204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0C2A8"/>
                </a:solidFill>
                <a:latin typeface="Georgia"/>
              </a:rPr>
              <a:t>Top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546811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trusted shortlist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89204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0C2A8"/>
                </a:solidFill>
                <a:latin typeface="Georgia"/>
              </a:rPr>
              <a:t>Hybrid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546811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dense +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489204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0C2A8"/>
                </a:solidFill>
                <a:latin typeface="Georgia"/>
              </a:rPr>
              <a:t>36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546811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CPU, no 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C2A8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0F1B3C"/>
                </a:solidFill>
                <a:latin typeface="Georgia"/>
              </a:rPr>
              <a:t>Keyword filters can't see what actually matters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0F1B3C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1B3C"/>
                </a:solidFill>
                <a:latin typeface="Calibri"/>
              </a:rPr>
              <a:t>Recruiters scan hundreds of profiles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33415C"/>
                </a:solidFill>
                <a:latin typeface="Calibri"/>
              </a:rPr>
              <a:t>and still miss the right person — not for lack of talent, but because filters match words, not fit.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429000"/>
            <a:ext cx="457200" cy="45720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429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0F1B3C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383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1B3C"/>
                </a:solidFill>
                <a:latin typeface="Calibri"/>
              </a:rPr>
              <a:t>The JD says one thing and means another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404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33415C"/>
                </a:solidFill>
                <a:latin typeface="Calibri"/>
              </a:rPr>
              <a:t>“5–9 years” is a guide, not a gate. “AI skills” without the right title is a red flag, not a green one.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800600"/>
            <a:ext cx="457200" cy="45720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8006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0F1B3C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1B3C"/>
                </a:solidFill>
                <a:latin typeface="Calibri"/>
              </a:rPr>
              <a:t>The best fit may never say the buzzword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2120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33415C"/>
                </a:solidFill>
                <a:latin typeface="Calibri"/>
              </a:rPr>
              <a:t>Someone who built “the ranking systems that decide what users see” is a fit even if they never write “RAG”.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C2A8"/>
                </a:solidFill>
                <a:latin typeface="Calibri"/>
              </a:rPr>
              <a:t>THE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0F1B3C"/>
                </a:solidFill>
                <a:latin typeface="Georgia"/>
              </a:rPr>
              <a:t>One narrow role, a 100,000-profile haystack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299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C2A8"/>
                </a:solidFill>
                <a:latin typeface="Calibri"/>
              </a:rPr>
              <a:t>What the JD really wants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4203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C2A8"/>
                </a:solidFill>
                <a:latin typeface="Georgia"/>
              </a:rPr>
              <a:t>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2560320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33415C"/>
                </a:solidFill>
                <a:latin typeface="Calibri"/>
              </a:rPr>
              <a:t>Production embeddings retrieval + vector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9067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C2A8"/>
                </a:solidFill>
                <a:latin typeface="Georgia"/>
              </a:rPr>
              <a:t>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6" y="3108960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33415C"/>
                </a:solidFill>
                <a:latin typeface="Calibri"/>
              </a:rPr>
              <a:t>Shipped a ranking / recsys / search system at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39311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C2A8"/>
                </a:solidFill>
                <a:latin typeface="Georgia"/>
              </a:rP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3657600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33415C"/>
                </a:solidFill>
                <a:latin typeface="Calibri"/>
              </a:rPr>
              <a:t>At a product company (not services-only)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8795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C2A8"/>
                </a:solidFill>
                <a:latin typeface="Georgia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4206240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33415C"/>
                </a:solidFill>
                <a:latin typeface="Calibri"/>
              </a:rPr>
              <a:t>Evaluation rigor: NDCG, MRR, MAP, A/B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3659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C2A8"/>
                </a:solidFill>
                <a:latin typeface="Georgia"/>
              </a:rP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4754879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33415C"/>
                </a:solidFill>
                <a:latin typeface="Calibri"/>
              </a:rPr>
              <a:t>5–9 yrs, pragmatic shipper &gt; research-only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85231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C2A8"/>
                </a:solidFill>
                <a:latin typeface="Georgia"/>
              </a:rP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5303520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33415C"/>
                </a:solidFill>
                <a:latin typeface="Calibri"/>
              </a:rPr>
              <a:t>In or willing to relocate to Noida / Pune, India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828800"/>
            <a:ext cx="2560320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975104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900" b="1" i="0">
                <a:solidFill>
                  <a:srgbClr val="00C2A8"/>
                </a:solidFill>
                <a:latin typeface="Georgia"/>
              </a:rPr>
              <a:t>100,000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5176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3415C"/>
                </a:solidFill>
                <a:latin typeface="Calibri"/>
              </a:rPr>
              <a:t>candidate profiles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828800"/>
            <a:ext cx="2560320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1975104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900" b="1" i="0">
                <a:solidFill>
                  <a:srgbClr val="3DA9FC"/>
                </a:solidFill>
                <a:latin typeface="Georgia"/>
              </a:rPr>
              <a:t>~1,000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65176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3415C"/>
                </a:solidFill>
                <a:latin typeface="Calibri"/>
              </a:rPr>
              <a:t>genuine ML/AI engineers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246120"/>
            <a:ext cx="2560320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392424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900" b="1" i="0">
                <a:solidFill>
                  <a:srgbClr val="F4795B"/>
                </a:solidFill>
                <a:latin typeface="Georgia"/>
              </a:rPr>
              <a:t>~5,500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06908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3415C"/>
                </a:solidFill>
                <a:latin typeface="Calibri"/>
              </a:rPr>
              <a:t>keyword-stuffer traps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3246120"/>
            <a:ext cx="2560320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3392424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900" b="1" i="0">
                <a:solidFill>
                  <a:srgbClr val="F4795B"/>
                </a:solidFill>
                <a:latin typeface="Georgia"/>
              </a:rPr>
              <a:t>~80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406908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3415C"/>
                </a:solidFill>
                <a:latin typeface="Calibri"/>
              </a:rPr>
              <a:t>impossible honeypots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709160"/>
            <a:ext cx="5303520" cy="1417320"/>
          </a:xfrm>
          <a:prstGeom prst="roundRect">
            <a:avLst>
              <a:gd name="adj" fmla="val 8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48463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C2A8"/>
                </a:solidFill>
                <a:latin typeface="Calibri"/>
              </a:rPr>
              <a:t>Scored on a hidden, graded ground truth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5248656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onsolas"/>
              </a:rPr>
              <a:t>0.50·NDCG@10 + 0.30·NDCG@50 + 0.15·MAP + 0.05·P@10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6692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CADCFC"/>
                </a:solidFill>
                <a:latin typeface="Calibri"/>
              </a:rPr>
              <a:t>Top-10 quality is half the score — precision at the very top is everything.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C2A8"/>
                </a:solidFill>
                <a:latin typeface="Calibri"/>
              </a:rPr>
              <a:t>THE DECISIVE CONTRAST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Same keywords. Opposite verdicts.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2A1A22"/>
          </a:solidFill>
          <a:ln w="12700">
            <a:solidFill>
              <a:srgbClr val="5E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2996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4795B"/>
                </a:solidFill>
                <a:latin typeface="Calibri"/>
              </a:rPr>
              <a:t>✕  KEYWORD-STUFFER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50592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CADCFC"/>
                </a:solidFill>
                <a:latin typeface="Calibri"/>
              </a:rPr>
              <a:t>“Project Manager · AI enthusiast · Building with LLMs”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Title &amp; career: PM / Marketing /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2160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Skills list sprayed with RAG, Pinecone, FAISS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88536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Summary: “took online courses on RAG…”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55464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→ buzzwords are cheap; the work isn't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4795B"/>
                </a:solidFill>
                <a:latin typeface="Consolas"/>
              </a:rPr>
              <a:t>our score: 0.04  ·  buried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74519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10262A"/>
          </a:solidFill>
          <a:ln w="12700">
            <a:solidFill>
              <a:srgbClr val="1F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2996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C2A8"/>
                </a:solidFill>
                <a:latin typeface="Calibri"/>
              </a:rPr>
              <a:t>✓  PLAIN-LANGUAGE TIER-5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50592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CADCFC"/>
                </a:solidFill>
                <a:latin typeface="Calibri"/>
              </a:rPr>
              <a:t>“…the ranking and retrieval systems that decide what to show”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15468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Title &amp; career: Senior AI Eng @ product co.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72160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Skills in plain words: Ranking Systems, BM25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88536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Summary maps 1:1 onto the JD's mandate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855464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→ never says “RAG”, but clearly built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5321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C2A8"/>
                </a:solidFill>
                <a:latin typeface="Consolas"/>
              </a:rPr>
              <a:t>our score: 0.80  ·  top of the 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C2A8"/>
                </a:solidFill>
                <a:latin typeface="Calibri"/>
              </a:rPr>
              <a:t>THE INSIGHT THAT DRIVES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0F1B3C"/>
                </a:solidFill>
                <a:latin typeface="Georgia"/>
              </a:rPr>
              <a:t>Buzzwords are noise. Evidence and availability are signal.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429000" cy="39319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00C2A8"/>
                </a:solidFill>
                <a:latin typeface="Calibri"/>
              </a:rPr>
              <a:t>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700" b="1" i="0">
                <a:solidFill>
                  <a:srgbClr val="0F1B3C"/>
                </a:solidFill>
                <a:latin typeface="Calibri"/>
              </a:rPr>
              <a:t>Read the career, not the skills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33415C"/>
                </a:solidFill>
                <a:latin typeface="Calibri"/>
              </a:rPr>
              <a:t>Credit for an AI skill is GATED by title/career credibility. A Marketing Manager's “RAG” earns almost nothing; an engineer's earns full weight.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429000" cy="39319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17720" y="228600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2860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00C2A8"/>
                </a:solidFill>
                <a:latin typeface="Calibri"/>
              </a:rPr>
              <a:t>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246120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700" b="1" i="0">
                <a:solidFill>
                  <a:srgbClr val="0F1B3C"/>
                </a:solidFill>
                <a:latin typeface="Calibri"/>
              </a:rPr>
              <a:t>A quiet tell in the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06908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33415C"/>
                </a:solidFill>
                <a:latin typeface="Calibri"/>
              </a:rPr>
              <a:t>“Python” appears as a listed skill on only ~1.4% of profiles — the genuine engineers. Stuffers reach for the flashy buzzwords instead.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2011680"/>
            <a:ext cx="3429000" cy="39319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228600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00C2A8"/>
                </a:solidFill>
                <a:latin typeface="Calibri"/>
              </a:rPr>
              <a:t>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46120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700" b="1" i="0">
                <a:solidFill>
                  <a:srgbClr val="0F1B3C"/>
                </a:solidFill>
                <a:latin typeface="Calibri"/>
              </a:rPr>
              <a:t>Hireable ≠ qualified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06908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33415C"/>
                </a:solidFill>
                <a:latin typeface="Calibri"/>
              </a:rPr>
              <a:t>A perfect profile that hasn't logged in for 6 months with a 5% response rate isn't available. Behaviour modifies fit — it never manufactures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C2A8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A hybrid: dense recall, structured precision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240280"/>
            <a:ext cx="2103120" cy="2286000"/>
          </a:xfrm>
          <a:prstGeom prst="roundRect">
            <a:avLst>
              <a:gd name="adj" fmla="val 8000"/>
            </a:avLst>
          </a:prstGeom>
          <a:solidFill>
            <a:srgbClr val="16224A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441448"/>
            <a:ext cx="502920" cy="146304"/>
          </a:xfrm>
          <a:prstGeom prst="roundRect">
            <a:avLst>
              <a:gd name="adj" fmla="val 3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79192"/>
            <a:ext cx="1773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55848"/>
            <a:ext cx="17739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headline, summary,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career, skills,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5184" y="310896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0C2A8"/>
                </a:solidFill>
                <a:latin typeface="Georgia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240280"/>
            <a:ext cx="2103120" cy="2286000"/>
          </a:xfrm>
          <a:prstGeom prst="roundRect">
            <a:avLst>
              <a:gd name="adj" fmla="val 8000"/>
            </a:avLst>
          </a:prstGeom>
          <a:solidFill>
            <a:srgbClr val="16224A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90672" y="2441448"/>
            <a:ext cx="502920" cy="146304"/>
          </a:xfrm>
          <a:prstGeom prst="roundRect">
            <a:avLst>
              <a:gd name="adj" fmla="val 3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0672" y="2679192"/>
            <a:ext cx="1773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Dense semantic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3355848"/>
            <a:ext cx="17739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all-MiniLM-L6-v2 + FAISS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cosine to distilled JD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4336" y="310896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0C2A8"/>
                </a:solidFill>
                <a:latin typeface="Georgia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85232" y="2240280"/>
            <a:ext cx="2103120" cy="2286000"/>
          </a:xfrm>
          <a:prstGeom prst="roundRect">
            <a:avLst>
              <a:gd name="adj" fmla="val 8000"/>
            </a:avLst>
          </a:prstGeom>
          <a:solidFill>
            <a:srgbClr val="16224A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49824" y="2441448"/>
            <a:ext cx="502920" cy="146304"/>
          </a:xfrm>
          <a:prstGeom prst="roundRect">
            <a:avLst>
              <a:gd name="adj" fmla="val 30000"/>
            </a:avLst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9824" y="2679192"/>
            <a:ext cx="1773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Structured 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9824" y="3355848"/>
            <a:ext cx="17739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title · what they built ·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experience · career · 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310896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0C2A8"/>
                </a:solidFill>
                <a:latin typeface="Georgia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44383" y="2240280"/>
            <a:ext cx="2103120" cy="2286000"/>
          </a:xfrm>
          <a:prstGeom prst="roundRect">
            <a:avLst>
              <a:gd name="adj" fmla="val 8000"/>
            </a:avLst>
          </a:prstGeom>
          <a:solidFill>
            <a:srgbClr val="16224A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08975" y="2441448"/>
            <a:ext cx="502920" cy="146304"/>
          </a:xfrm>
          <a:prstGeom prst="roundRect">
            <a:avLst>
              <a:gd name="adj" fmla="val 30000"/>
            </a:avLst>
          </a:prstGeom>
          <a:solidFill>
            <a:srgbClr val="F4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8975" y="2679192"/>
            <a:ext cx="1773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Guards + behaviour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08975" y="3355848"/>
            <a:ext cx="17739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honeypot &amp; stuffer kill ×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availability multiplier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10896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0C2A8"/>
                </a:solidFill>
                <a:latin typeface="Georgia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03536" y="2240280"/>
            <a:ext cx="2103120" cy="2286000"/>
          </a:xfrm>
          <a:prstGeom prst="roundRect">
            <a:avLst>
              <a:gd name="adj" fmla="val 8000"/>
            </a:avLst>
          </a:prstGeom>
          <a:solidFill>
            <a:srgbClr val="16224A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168128" y="2441448"/>
            <a:ext cx="502920" cy="146304"/>
          </a:xfrm>
          <a:prstGeom prst="roundRect">
            <a:avLst>
              <a:gd name="adj" fmla="val 3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68128" y="2679192"/>
            <a:ext cx="1773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Ranked top 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68128" y="3355848"/>
            <a:ext cx="17739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score + honest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reasoning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89204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10262A"/>
          </a:solidFill>
          <a:ln w="12700">
            <a:solidFill>
              <a:srgbClr val="1F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0292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C2A8"/>
                </a:solidFill>
                <a:latin typeface="Calibri"/>
              </a:rPr>
              <a:t>Why hybrid?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58384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Embeddings give recall over fits described in plain language. The structured + integrity layers give precision and keep stuffers and honeypots out of the top. Neither wins alone — which is exactly the system this role is hired to build.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C2A8"/>
                </a:solidFill>
                <a:latin typeface="Calibri"/>
              </a:rPr>
              <a:t>THE SCORING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0F1B3C"/>
                </a:solidFill>
                <a:latin typeface="Georgia"/>
              </a:rPr>
              <a:t>One transparent, auditable formula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27080" cy="868680"/>
          </a:xfrm>
          <a:prstGeom prst="roundRect">
            <a:avLst>
              <a:gd name="adj" fmla="val 8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27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</a:rPr>
              <a:t>final  =  fit  ×  behavioural  ×  disqualifier  ×  honeypot  ×  stuffer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4436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B3C"/>
                </a:solidFill>
                <a:latin typeface="Calibri"/>
              </a:rPr>
              <a:t>fit  =  weighted blend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5643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C"/>
                </a:solidFill>
                <a:latin typeface="Calibri"/>
              </a:rPr>
              <a:t>Title (current + career)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493008"/>
            <a:ext cx="2468880" cy="219456"/>
          </a:xfrm>
          <a:prstGeom prst="roundRect">
            <a:avLst>
              <a:gd name="adj" fmla="val 4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3493008"/>
            <a:ext cx="2468880" cy="219456"/>
          </a:xfrm>
          <a:prstGeom prst="roundRect">
            <a:avLst>
              <a:gd name="adj" fmla="val 4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3456432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B3C"/>
                </a:solidFill>
                <a:latin typeface="Consolas"/>
              </a:rPr>
              <a:t>0.22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5876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C"/>
                </a:solidFill>
                <a:latin typeface="Calibri"/>
              </a:rPr>
              <a:t>What they built (lexical)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3895344"/>
            <a:ext cx="2468880" cy="219456"/>
          </a:xfrm>
          <a:prstGeom prst="roundRect">
            <a:avLst>
              <a:gd name="adj" fmla="val 4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3895344"/>
            <a:ext cx="2468880" cy="219456"/>
          </a:xfrm>
          <a:prstGeom prst="roundRect">
            <a:avLst>
              <a:gd name="adj" fmla="val 4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3858768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B3C"/>
                </a:solidFill>
                <a:latin typeface="Consolas"/>
              </a:rPr>
              <a:t>0.22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61104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C"/>
                </a:solidFill>
                <a:latin typeface="Calibri"/>
              </a:rPr>
              <a:t>Career arc · product vs 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4297680"/>
            <a:ext cx="2468880" cy="219456"/>
          </a:xfrm>
          <a:prstGeom prst="roundRect">
            <a:avLst>
              <a:gd name="adj" fmla="val 4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83280" y="4297680"/>
            <a:ext cx="1571105" cy="219456"/>
          </a:xfrm>
          <a:prstGeom prst="roundRect">
            <a:avLst>
              <a:gd name="adj" fmla="val 4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4261104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B3C"/>
                </a:solidFill>
                <a:latin typeface="Consolas"/>
              </a:rPr>
              <a:t>0.14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6344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C"/>
                </a:solidFill>
                <a:latin typeface="Calibri"/>
              </a:rPr>
              <a:t>Semantic · retrieval facet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4700016"/>
            <a:ext cx="2468880" cy="219456"/>
          </a:xfrm>
          <a:prstGeom prst="roundRect">
            <a:avLst>
              <a:gd name="adj" fmla="val 4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83280" y="4700016"/>
            <a:ext cx="1458883" cy="219456"/>
          </a:xfrm>
          <a:prstGeom prst="roundRect">
            <a:avLst>
              <a:gd name="adj" fmla="val 4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4663440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B3C"/>
                </a:solidFill>
                <a:latin typeface="Consolas"/>
              </a:rPr>
              <a:t>0.13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6577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C"/>
                </a:solidFill>
                <a:latin typeface="Calibri"/>
              </a:rPr>
              <a:t>Semantic · full JD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5102352"/>
            <a:ext cx="2468880" cy="219456"/>
          </a:xfrm>
          <a:prstGeom prst="roundRect">
            <a:avLst>
              <a:gd name="adj" fmla="val 4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83280" y="5102352"/>
            <a:ext cx="1234440" cy="219456"/>
          </a:xfrm>
          <a:prstGeom prst="roundRect">
            <a:avLst>
              <a:gd name="adj" fmla="val 4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5065776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B3C"/>
                </a:solidFill>
                <a:latin typeface="Consolas"/>
              </a:rPr>
              <a:t>0.11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6811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C"/>
                </a:solidFill>
                <a:latin typeface="Calibri"/>
              </a:rPr>
              <a:t>Experience band (5–9y)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5504688"/>
            <a:ext cx="2468880" cy="219456"/>
          </a:xfrm>
          <a:prstGeom prst="roundRect">
            <a:avLst>
              <a:gd name="adj" fmla="val 4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83280" y="5504688"/>
            <a:ext cx="1122218" cy="219456"/>
          </a:xfrm>
          <a:prstGeom prst="roundRect">
            <a:avLst>
              <a:gd name="adj" fmla="val 4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5468112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B3C"/>
                </a:solidFill>
                <a:latin typeface="Consolas"/>
              </a:rPr>
              <a:t>0.10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7044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C"/>
                </a:solidFill>
                <a:latin typeface="Calibri"/>
              </a:rPr>
              <a:t>Location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5907024"/>
            <a:ext cx="2468880" cy="219456"/>
          </a:xfrm>
          <a:prstGeom prst="roundRect">
            <a:avLst>
              <a:gd name="adj" fmla="val 4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383280" y="5907024"/>
            <a:ext cx="897774" cy="219456"/>
          </a:xfrm>
          <a:prstGeom prst="roundRect">
            <a:avLst>
              <a:gd name="adj" fmla="val 4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5870448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B3C"/>
                </a:solidFill>
                <a:latin typeface="Consolas"/>
              </a:rPr>
              <a:t>0.08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12280" y="2944368"/>
            <a:ext cx="4754880" cy="3200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31089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B3C"/>
                </a:solidFill>
                <a:latin typeface="Calibri"/>
              </a:rPr>
              <a:t>Multipliers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61188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3415C"/>
                </a:solidFill>
                <a:latin typeface="Calibri"/>
              </a:rPr>
              <a:t>Behavioural availability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3611880"/>
            <a:ext cx="1508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00C2A8"/>
                </a:solidFill>
                <a:latin typeface="Consolas"/>
              </a:rPr>
              <a:t>× 0.62 – 1.08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11480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3415C"/>
                </a:solidFill>
                <a:latin typeface="Calibri"/>
              </a:rPr>
              <a:t>CV / speech, no IR-NLP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4114800"/>
            <a:ext cx="1508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F4795B"/>
                </a:solidFill>
                <a:latin typeface="Consolas"/>
              </a:rPr>
              <a:t>× 0.55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61772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3415C"/>
                </a:solidFill>
                <a:latin typeface="Calibri"/>
              </a:rPr>
              <a:t>Research-only, no production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4617720"/>
            <a:ext cx="1508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F4795B"/>
                </a:solidFill>
                <a:latin typeface="Consolas"/>
              </a:rPr>
              <a:t>× 0.60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512064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3415C"/>
                </a:solidFill>
                <a:latin typeface="Calibri"/>
              </a:rPr>
              <a:t>Keyword-stuffer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1240" y="5120640"/>
            <a:ext cx="1508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F4795B"/>
                </a:solidFill>
                <a:latin typeface="Consolas"/>
              </a:rPr>
              <a:t>× 0.25 – 0.40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62356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3415C"/>
                </a:solidFill>
                <a:latin typeface="Calibri"/>
              </a:rPr>
              <a:t>Honeypot (impossible profile)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1240" y="5623560"/>
            <a:ext cx="1508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F4795B"/>
                </a:solidFill>
                <a:latin typeface="Consolas"/>
              </a:rPr>
              <a:t>× 0.03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C2A8"/>
                </a:solidFill>
                <a:latin typeface="Calibri"/>
              </a:rPr>
              <a:t>TRAP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0F1B3C"/>
                </a:solidFill>
                <a:latin typeface="Georgia"/>
              </a:rPr>
              <a:t>Every trap has a dedicated 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C879B"/>
                </a:solidFill>
                <a:latin typeface="Calibri"/>
              </a:rPr>
              <a:t>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783080"/>
            <a:ext cx="27431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C879B"/>
                </a:solidFill>
                <a:latin typeface="Calibri"/>
              </a:rPr>
              <a:t>HOW IT HIDES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783080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C879B"/>
                </a:solidFill>
                <a:latin typeface="Calibri"/>
              </a:rPr>
              <a:t>GUARD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10927080" cy="6766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441448"/>
            <a:ext cx="109728" cy="274320"/>
          </a:xfrm>
          <a:prstGeom prst="roundRect">
            <a:avLst>
              <a:gd name="adj" fmla="val 3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21031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B3C"/>
                </a:solidFill>
                <a:latin typeface="Calibri"/>
              </a:rPr>
              <a:t>Keyword-stuffer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240280"/>
            <a:ext cx="28346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C"/>
                </a:solidFill>
                <a:latin typeface="Calibri"/>
              </a:rPr>
              <a:t>Non-eng title + buzzword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240280"/>
            <a:ext cx="5394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C"/>
                </a:solidFill>
                <a:latin typeface="Calibri"/>
              </a:rPr>
              <a:t>Gate skill-credit on title credibility; anti-query dampener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26664"/>
            <a:ext cx="10927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227832"/>
            <a:ext cx="109728" cy="274320"/>
          </a:xfrm>
          <a:prstGeom prst="roundRect">
            <a:avLst>
              <a:gd name="adj" fmla="val 30000"/>
            </a:avLst>
          </a:prstGeom>
          <a:solidFill>
            <a:srgbClr val="F47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26664"/>
            <a:ext cx="21031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B3C"/>
                </a:solidFill>
                <a:latin typeface="Calibri"/>
              </a:rPr>
              <a:t>Honeypot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026664"/>
            <a:ext cx="28346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C"/>
                </a:solidFill>
                <a:latin typeface="Calibri"/>
              </a:rPr>
              <a:t>Tenure &gt; dates allow; “expert”, 0 months used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026664"/>
            <a:ext cx="5394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C"/>
                </a:solidFill>
                <a:latin typeface="Calibri"/>
              </a:rPr>
              <a:t>Date-arithmetic &amp; mastery-without-time checks → ×0.03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13048"/>
            <a:ext cx="10927080" cy="6766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014215"/>
            <a:ext cx="109728" cy="274320"/>
          </a:xfrm>
          <a:prstGeom prst="roundRect">
            <a:avLst>
              <a:gd name="adj" fmla="val 30000"/>
            </a:avLst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813048"/>
            <a:ext cx="21031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B3C"/>
                </a:solidFill>
                <a:latin typeface="Calibri"/>
              </a:rPr>
              <a:t>CV / speech specialist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813048"/>
            <a:ext cx="28346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C"/>
                </a:solidFill>
                <a:latin typeface="Calibri"/>
              </a:rPr>
              <a:t>YOLO, OpenCV, ASR — no 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813048"/>
            <a:ext cx="5394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C"/>
                </a:solidFill>
                <a:latin typeface="Calibri"/>
              </a:rPr>
              <a:t>Penalise CV-heavy profiles lacking IR/NLP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99432"/>
            <a:ext cx="1092708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4800600"/>
            <a:ext cx="109728" cy="274320"/>
          </a:xfrm>
          <a:prstGeom prst="roundRect">
            <a:avLst>
              <a:gd name="adj" fmla="val 30000"/>
            </a:avLst>
          </a:prstGeom>
          <a:solidFill>
            <a:srgbClr val="F4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599432"/>
            <a:ext cx="21031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B3C"/>
                </a:solidFill>
                <a:latin typeface="Calibri"/>
              </a:rPr>
              <a:t>Research-only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599432"/>
            <a:ext cx="28346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C"/>
                </a:solidFill>
                <a:latin typeface="Calibri"/>
              </a:rPr>
              <a:t>Papers, labs, no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599432"/>
            <a:ext cx="5394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C"/>
                </a:solidFill>
                <a:latin typeface="Calibri"/>
              </a:rPr>
              <a:t>Require production signal or down-weight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385816"/>
            <a:ext cx="10927080" cy="6766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5586984"/>
            <a:ext cx="109728" cy="274320"/>
          </a:xfrm>
          <a:prstGeom prst="roundRect">
            <a:avLst>
              <a:gd name="adj" fmla="val 3000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385816"/>
            <a:ext cx="21031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B3C"/>
                </a:solidFill>
                <a:latin typeface="Calibri"/>
              </a:rPr>
              <a:t>Title-chaser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5385816"/>
            <a:ext cx="28346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C"/>
                </a:solidFill>
                <a:latin typeface="Calibri"/>
              </a:rPr>
              <a:t>Job-hops every &lt;18 months for titles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385816"/>
            <a:ext cx="5394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415C"/>
                </a:solidFill>
                <a:latin typeface="Calibri"/>
              </a:rPr>
              <a:t>Tenure-stability term in the career-arc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C2A8"/>
                </a:solidFill>
                <a:latin typeface="Calibri"/>
              </a:rPr>
              <a:t>TRUSTWORTHY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0F1B3C"/>
                </a:solidFill>
                <a:latin typeface="Georgia"/>
              </a:rPr>
              <a:t>Every pick comes with honest, grounded reasoning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6400800" cy="42062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84831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C2A8"/>
                </a:solidFill>
                <a:latin typeface="Calibri"/>
              </a:rPr>
              <a:t>GENERATED REASONING (rank 65)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87168"/>
            <a:ext cx="5852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 i="1">
                <a:solidFill>
                  <a:srgbClr val="0F1B3C"/>
                </a:solidFill>
                <a:latin typeface="Calibri"/>
              </a:rPr>
              <a:t>“AI Engineer with 5 yrs (Salesforce); direct ranking systems, recommendation systems experience (Haystack, LoRA, Weaviate); Pune-based. Concern: long notice period (120d).”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C879B"/>
                </a:solidFill>
                <a:latin typeface="Calibri"/>
              </a:rPr>
              <a:t>Facts pulled only from the profile — no LLM, no invented skills.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0" y="1993391"/>
            <a:ext cx="384048" cy="384048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993391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1B3C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96596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3415C"/>
                </a:solidFill>
                <a:latin typeface="Calibri"/>
              </a:rPr>
              <a:t>Specific facts: title, years, real employers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2670047"/>
            <a:ext cx="384048" cy="384048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2670047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1B3C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642615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3415C"/>
                </a:solidFill>
                <a:latin typeface="Calibri"/>
              </a:rPr>
              <a:t>Connects to JD: names the retrieval/ranking work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0" y="3346703"/>
            <a:ext cx="384048" cy="384048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3346703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1B3C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319272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3415C"/>
                </a:solidFill>
                <a:latin typeface="Calibri"/>
              </a:rPr>
              <a:t>Honest: flags the 120-day notice concern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0" y="4023359"/>
            <a:ext cx="384048" cy="384048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4023359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1B3C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995927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3415C"/>
                </a:solidFill>
                <a:latin typeface="Calibri"/>
              </a:rPr>
              <a:t>No hallucination: skills are from the profile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0" y="4700016"/>
            <a:ext cx="384048" cy="384048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47000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1B3C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672583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3415C"/>
                </a:solidFill>
                <a:latin typeface="Calibri"/>
              </a:rPr>
              <a:t>Varied: composed per candidate, not templated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0" y="5376672"/>
            <a:ext cx="384048" cy="384048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53766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F1B3C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34924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3415C"/>
                </a:solidFill>
                <a:latin typeface="Calibri"/>
              </a:rPr>
              <a:t>Tone matches rank: confident high, hedged 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C2A8"/>
                </a:solidFill>
                <a:latin typeface="Calibri"/>
              </a:rPr>
              <a:t>RESULTS ON THE RELEASED POOL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A shortlist a recruiter can trust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5740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16224A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19" y="225856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0C2A8"/>
                </a:solidFill>
                <a:latin typeface="Georgia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7" y="29718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ADCFC"/>
                </a:solidFill>
                <a:latin typeface="Calibri"/>
              </a:rPr>
              <a:t>engineering titles in the top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05740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16224A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25856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3DA9FC"/>
                </a:solidFill>
                <a:latin typeface="Georgia"/>
              </a:rPr>
              <a:t>86 /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9718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ADCFC"/>
                </a:solidFill>
                <a:latin typeface="Calibri"/>
              </a:rPr>
              <a:t>inside the 5–9 yr band (mean 6.5)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1188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16224A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381304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0C2A8"/>
                </a:solidFill>
                <a:latin typeface="Georgia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45262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ADCFC"/>
                </a:solidFill>
                <a:latin typeface="Calibri"/>
              </a:rPr>
              <a:t>honeypots &amp; 0 stuffers in top 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61188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16224A"/>
          </a:solidFill>
          <a:ln w="12700">
            <a:solidFill>
              <a:srgbClr val="263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81304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3DA9FC"/>
                </a:solidFill>
                <a:latin typeface="Georgia"/>
              </a:rPr>
              <a:t>Noida + Pune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5262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ADCFC"/>
                </a:solidFill>
                <a:latin typeface="Calibri"/>
              </a:rPr>
              <a:t>the #1 and #2 locations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57800"/>
            <a:ext cx="10927080" cy="868680"/>
          </a:xfrm>
          <a:prstGeom prst="roundRect">
            <a:avLst>
              <a:gd name="adj" fmla="val 8000"/>
            </a:avLst>
          </a:prstGeom>
          <a:solidFill>
            <a:srgbClr val="10262A"/>
          </a:solidFill>
          <a:ln w="12700">
            <a:solidFill>
              <a:srgbClr val="1F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257800"/>
            <a:ext cx="10515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Disqualification-proof: the spec fails any submission with &gt;10% honeypots in the top 100. Ours has zero.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C2A8"/>
                </a:solidFill>
                <a:latin typeface="Calibri"/>
              </a:rPr>
              <a:t>BUILT FOR PRODUCTION, NOT JUST A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0F1B3C"/>
                </a:solidFill>
                <a:latin typeface="Georgia"/>
              </a:rPr>
              <a:t>Fast, reproducible, no API in the loop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1B3C"/>
                </a:solidFill>
                <a:latin typeface="Calibri"/>
              </a:rPr>
              <a:t>Offline · 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33415C"/>
                </a:solidFill>
                <a:latin typeface="Calibri"/>
              </a:rPr>
              <a:t>Embed 100K profiles with a small CPU transformer; build the FAISS index. ~20 min, fully documented.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429000"/>
            <a:ext cx="457200" cy="457200"/>
          </a:xfrm>
          <a:prstGeom prst="ellipse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429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38328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1B3C"/>
                </a:solidFill>
                <a:latin typeface="Calibri"/>
              </a:rPr>
              <a:t>Ranking step · every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404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33415C"/>
                </a:solidFill>
                <a:latin typeface="Calibri"/>
              </a:rPr>
              <a:t>Pure numpy over the pre-computed index. 36 seconds for 100K on a 12-core CPU — far inside the 5-min budget.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800600"/>
            <a:ext cx="457200" cy="45720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8006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0F1B3C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1B3C"/>
                </a:solidFill>
                <a:latin typeface="Calibri"/>
              </a:rPr>
              <a:t>No network, no GPU, no LLM calls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2120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33415C"/>
                </a:solidFill>
                <a:latin typeface="Calibri"/>
              </a:rPr>
              <a:t>The ranking code makes zero API calls — the same constraint a 200K-pool production system must meet.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2011680"/>
            <a:ext cx="3886200" cy="4114800"/>
          </a:xfrm>
          <a:prstGeom prst="roundRect">
            <a:avLst>
              <a:gd name="adj" fmla="val 8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212848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C2A8"/>
                </a:solidFill>
                <a:latin typeface="Calibri"/>
              </a:rPr>
              <a:t>ONE COMMAND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633472"/>
            <a:ext cx="3474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python rank.py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  --candidates candidates.jsonl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  --out submission.csv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02336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023360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00C2A8"/>
                </a:solidFill>
                <a:latin typeface="Consolas"/>
              </a:rPr>
              <a:t>≤ 5 min  ✓ 36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52628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526280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00C2A8"/>
                </a:solidFill>
                <a:latin typeface="Consolas"/>
              </a:rPr>
              <a:t>≤ 16 GB  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502920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Compute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5029200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00C2A8"/>
                </a:solidFill>
                <a:latin typeface="Consolas"/>
              </a:rPr>
              <a:t>CPU only 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553212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Network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5532120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00C2A8"/>
                </a:solidFill>
                <a:latin typeface="Consolas"/>
              </a:rPr>
              <a:t>off  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103120" y="3291840"/>
            <a:ext cx="5943600" cy="59436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C2A8"/>
                </a:solidFill>
                <a:latin typeface="Calibri"/>
              </a:rPr>
              <a:t>WHY IT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700" b="1" i="0">
                <a:solidFill>
                  <a:srgbClr val="FFFFFF"/>
                </a:solidFill>
                <a:latin typeface="Georgia"/>
              </a:rPr>
              <a:t>Understanding, not keyword counting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980944"/>
            <a:ext cx="292608" cy="292608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i="0">
                <a:solidFill>
                  <a:srgbClr val="CADCFC"/>
                </a:solidFill>
                <a:latin typeface="Calibri"/>
              </a:rPr>
              <a:t>Hybrid dense + structured ranking — recall and precision, not one at the cost of the other.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730752"/>
            <a:ext cx="292608" cy="292608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67588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i="0">
                <a:solidFill>
                  <a:srgbClr val="CADCFC"/>
                </a:solidFill>
                <a:latin typeface="Calibri"/>
              </a:rPr>
              <a:t>Engineered against every trap the dataset hides; zero honeypots and zero stuffers in the top 100.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480559"/>
            <a:ext cx="292608" cy="292608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425696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i="0">
                <a:solidFill>
                  <a:srgbClr val="CADCFC"/>
                </a:solidFill>
                <a:latin typeface="Calibri"/>
              </a:rPr>
              <a:t>Optimised where it counts: top-10 quality is half the score, so the top is all in-band, on-domain fits.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5230368"/>
            <a:ext cx="292608" cy="292608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17550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i="0">
                <a:solidFill>
                  <a:srgbClr val="CADCFC"/>
                </a:solidFill>
                <a:latin typeface="Calibri"/>
              </a:rPr>
              <a:t>Fast, reproducible, and fully auditable — every score and every reason can be explained line by 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4476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1">
                <a:solidFill>
                  <a:srgbClr val="FFFFFF"/>
                </a:solidFill>
                <a:latin typeface="Calibri"/>
              </a:rPr>
              <a:t>Make hiring smarter — rank candidates the way a great recruiter would.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