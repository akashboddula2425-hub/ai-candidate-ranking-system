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b="1">
                <a:solidFill>
                  <a:srgbClr val="6B46E6"/>
                </a:solidFill>
                <a:latin typeface="Manrope SemiBold"/>
              </a:rPr>
              <a:t>  Team-Phoenix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b="1">
                <a:solidFill>
                  <a:srgbClr val="6B46E6"/>
                </a:solidFill>
                <a:latin typeface="Manrope SemiBold"/>
              </a:rPr>
              <a:t>  Intelligent Candidate Discovery &amp; Ranking — rank the best-fit candidates for a job description by genuine fit, not keywords.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b="1">
                <a:solidFill>
                  <a:srgbClr val="6B46E6"/>
                </a:solidFill>
                <a:latin typeface="Manrope SemiBold"/>
              </a:rPr>
              <a:t>  Akash Boddula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A hybrid candidate ranker.  </a:t>
            </a:r>
            <a:r>
              <a:rPr sz="1250" b="0">
                <a:solidFill>
                  <a:srgbClr val="202729"/>
                </a:solidFill>
                <a:latin typeface="Manrope"/>
              </a:rPr>
              <a:t>It reads each candidate's full profile and ranks the top 100 by genuine fit — combining AI semantic understanding with a structured, recruiter-style scoring model.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Four layers working together:  </a:t>
            </a:r>
            <a:r>
              <a:rPr sz="1250" b="0">
                <a:solidFill>
                  <a:srgbClr val="202729"/>
                </a:solidFill>
                <a:latin typeface="Manrope"/>
              </a:rPr>
              <a:t>(1) dense embeddings that grasp meaning, (2) structured fit rules, (3) integrity guards that reject fakes, (4) behavioural signals for real availability.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What makes it different:  </a:t>
            </a:r>
            <a:r>
              <a:rPr sz="1250" b="0">
                <a:solidFill>
                  <a:srgbClr val="202729"/>
                </a:solidFill>
                <a:latin typeface="Manrope"/>
              </a:rPr>
              <a:t>AI-skill credit is GATED by title/career credibility — so a Marketing Manager who lists 'RAG' earns almost nothing, while a genuine engineer earns full weight.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Sees plain-language fits:  </a:t>
            </a:r>
            <a:r>
              <a:rPr sz="1250" b="0">
                <a:solidFill>
                  <a:srgbClr val="202729"/>
                </a:solidFill>
                <a:latin typeface="Manrope"/>
              </a:rPr>
              <a:t>surfaces people who built ranking/retrieval systems but never wrote the buzzword — which keyword filters miss entirely.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Trustworthy &amp; fast:  </a:t>
            </a:r>
            <a:r>
              <a:rPr sz="1250" b="0">
                <a:solidFill>
                  <a:srgbClr val="202729"/>
                </a:solidFill>
                <a:latin typeface="Manrope"/>
              </a:rPr>
              <a:t>every pick has an explainable score + honest reason; runs in ~37s on a CPU with no paid LLM API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Requirements extracted from the JD:  </a:t>
            </a:r>
            <a:r>
              <a:rPr sz="1250" b="0">
                <a:solidFill>
                  <a:srgbClr val="202729"/>
                </a:solidFill>
                <a:latin typeface="Manrope"/>
              </a:rPr>
              <a:t>production embeddings &amp; vector search; a shipped ranking / recsys / search system at scale; product-company (not services-only); 5–9 yrs; evaluation rigor (NDCG/MRR/MAP); Noida/Pune; a pragmatic shipper, not research-only.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Most important candidate signals:  </a:t>
            </a:r>
            <a:r>
              <a:rPr sz="1250" b="0">
                <a:solidFill>
                  <a:srgbClr val="202729"/>
                </a:solidFill>
                <a:latin typeface="Manrope"/>
              </a:rPr>
              <a:t>current + past job titles, what they actually built (career-history text), real retrieval/ranking evidence, experience band, product-vs-services history, and behavioural availability.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Fit beyond keywords:  </a:t>
            </a:r>
            <a:r>
              <a:rPr sz="1250" b="0">
                <a:solidFill>
                  <a:srgbClr val="202729"/>
                </a:solidFill>
                <a:latin typeface="Manrope"/>
              </a:rPr>
              <a:t>we embed a distilled version of the JD and match each profile by meaning; we read career descriptions, not just the skills list; and we gate buzzword credit by whether the title/career makes it believable.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Retrieve:  </a:t>
            </a:r>
            <a:r>
              <a:rPr sz="1250" b="0">
                <a:solidFill>
                  <a:srgbClr val="202729"/>
                </a:solidFill>
                <a:latin typeface="Manrope"/>
              </a:rPr>
              <a:t>every profile is pre-embedded with a sentence-transformer (all-MiniLM-L6-v2, 384-d) and indexed with FAISS; we score cosine similarity to a distilled JD query.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Score (weighted blend 'fit'):  </a:t>
            </a:r>
            <a:r>
              <a:rPr sz="1250" b="0">
                <a:solidFill>
                  <a:srgbClr val="202729"/>
                </a:solidFill>
                <a:latin typeface="Manrope"/>
              </a:rPr>
              <a:t>title .22 · what-they-built .22 · career-arc .14 · semantic-retrieval .13 · semantic-full .11 · experience .10 · location .08.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Combine all signals:  </a:t>
            </a:r>
            <a:r>
              <a:rPr sz="1250" b="0">
                <a:solidFill>
                  <a:srgbClr val="202729"/>
                </a:solidFill>
                <a:latin typeface="Manrope"/>
              </a:rPr>
              <a:t>final = fit × behavioural × disqualifier × honeypot × stuffer — multipliers that sink unavailable, off-domain, fake, or impossible profiles.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Rank:  </a:t>
            </a:r>
            <a:r>
              <a:rPr sz="1250" b="0">
                <a:solidFill>
                  <a:srgbClr val="202729"/>
                </a:solidFill>
                <a:latin typeface="Manrope"/>
              </a:rPr>
              <a:t>sort by final score (deterministic tie-break by candidate_id) and emit the top 100 with reasons.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Every decision is explained:  </a:t>
            </a:r>
            <a:r>
              <a:rPr sz="1250" b="0">
                <a:solidFill>
                  <a:srgbClr val="202729"/>
                </a:solidFill>
                <a:latin typeface="Manrope"/>
              </a:rPr>
              <a:t>each shortlisted candidate gets a 1–2 sentence reason built from their own facts — title, years, real employers, named skills — plus honest concerns (e.g. long notice, low response rate).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No hallucinations:  </a:t>
            </a:r>
            <a:r>
              <a:rPr sz="1250" b="0">
                <a:solidFill>
                  <a:srgbClr val="202729"/>
                </a:solidFill>
                <a:latin typeface="Manrope"/>
              </a:rPr>
              <a:t>reasoning is composed only from fields actually present in the profile (no LLM, no invented skills); tone is tied to the rank so it never contradicts the score.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Suspicious / low-quality profiles:  </a:t>
            </a:r>
            <a:r>
              <a:rPr sz="1250" b="0">
                <a:solidFill>
                  <a:srgbClr val="202729"/>
                </a:solidFill>
                <a:latin typeface="Manrope"/>
              </a:rPr>
              <a:t>honeypots (impossible tenure vs dates; 'expert' in many skills with 0 months used) are detected by simple arithmetic and crushed ×0.03; keyword-stuffers ×0.25–0.40.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Reproducible:  </a:t>
            </a:r>
            <a:r>
              <a:rPr sz="1250" b="0">
                <a:solidFill>
                  <a:srgbClr val="202729"/>
                </a:solidFill>
                <a:latin typeface="Manrope"/>
              </a:rPr>
              <a:t>output is fully deterministic — two runs produce a byte-identical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From JD to ranked candidates:  </a:t>
            </a:r>
            <a:r>
              <a:rPr sz="1250" b="0">
                <a:solidFill>
                  <a:srgbClr val="202729"/>
                </a:solidFill>
                <a:latin typeface="Manrope"/>
              </a:rPr>
              <a:t>one offline preparation step, then a fast CPU-only ranking pass.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310896" y="2286000"/>
            <a:ext cx="1133856" cy="914400"/>
          </a:xfrm>
          <a:prstGeom prst="roundRect">
            <a:avLst>
              <a:gd name="adj" fmla="val 12000"/>
            </a:avLst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2286000"/>
            <a:ext cx="102412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anrope"/>
              </a:rPr>
              <a:t>Job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anrope"/>
              </a:rPr>
              <a:t>Description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1449324" y="2660904"/>
            <a:ext cx="82296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536192" y="2286000"/>
            <a:ext cx="1133856" cy="914400"/>
          </a:xfrm>
          <a:prstGeom prst="roundRect">
            <a:avLst>
              <a:gd name="adj" fmla="val 12000"/>
            </a:avLst>
          </a:prstGeom>
          <a:solidFill>
            <a:srgbClr val="F1EEFD"/>
          </a:solidFill>
          <a:ln w="12700">
            <a:solidFill>
              <a:srgbClr val="D9D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91056" y="2286000"/>
            <a:ext cx="102412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729"/>
                </a:solidFill>
                <a:latin typeface="Manrope"/>
              </a:rPr>
              <a:t>Distil to query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02729"/>
                </a:solidFill>
                <a:latin typeface="Manrope"/>
              </a:rPr>
              <a:t>+ lexicons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2674620" y="2660904"/>
            <a:ext cx="82296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2761488" y="2286000"/>
            <a:ext cx="1133856" cy="914400"/>
          </a:xfrm>
          <a:prstGeom prst="roundRect">
            <a:avLst>
              <a:gd name="adj" fmla="val 12000"/>
            </a:avLst>
          </a:prstGeom>
          <a:solidFill>
            <a:srgbClr val="F1EEFD"/>
          </a:solidFill>
          <a:ln w="12700">
            <a:solidFill>
              <a:srgbClr val="D9D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16352" y="2286000"/>
            <a:ext cx="102412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729"/>
                </a:solidFill>
                <a:latin typeface="Manrope"/>
              </a:rPr>
              <a:t>Embed 100K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02729"/>
                </a:solidFill>
                <a:latin typeface="Manrope"/>
              </a:rPr>
              <a:t>profiles (offline)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3899916" y="2660904"/>
            <a:ext cx="82296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3986784" y="2286000"/>
            <a:ext cx="1133856" cy="914400"/>
          </a:xfrm>
          <a:prstGeom prst="roundRect">
            <a:avLst>
              <a:gd name="adj" fmla="val 12000"/>
            </a:avLst>
          </a:prstGeom>
          <a:solidFill>
            <a:srgbClr val="F1EEFD"/>
          </a:solidFill>
          <a:ln w="12700">
            <a:solidFill>
              <a:srgbClr val="D9D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41648" y="2286000"/>
            <a:ext cx="102412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729"/>
                </a:solidFill>
                <a:latin typeface="Manrope"/>
              </a:rPr>
              <a:t>Score: semantic +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02729"/>
                </a:solidFill>
                <a:latin typeface="Manrope"/>
              </a:rPr>
              <a:t>structured + guards</a:t>
            </a:r>
          </a:p>
        </p:txBody>
      </p:sp>
      <p:sp>
        <p:nvSpPr>
          <p:cNvPr id="104" name="Right Arrow 103"/>
          <p:cNvSpPr/>
          <p:nvPr/>
        </p:nvSpPr>
        <p:spPr>
          <a:xfrm>
            <a:off x="5125212" y="2660904"/>
            <a:ext cx="82296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212080" y="2286000"/>
            <a:ext cx="1133856" cy="914400"/>
          </a:xfrm>
          <a:prstGeom prst="roundRect">
            <a:avLst>
              <a:gd name="adj" fmla="val 12000"/>
            </a:avLst>
          </a:prstGeom>
          <a:solidFill>
            <a:srgbClr val="F1EEFD"/>
          </a:solidFill>
          <a:ln w="12700">
            <a:solidFill>
              <a:srgbClr val="D9D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66944" y="2286000"/>
            <a:ext cx="102412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729"/>
                </a:solidFill>
                <a:latin typeface="Manrope"/>
              </a:rPr>
              <a:t>Combine ×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02729"/>
                </a:solidFill>
                <a:latin typeface="Manrope"/>
              </a:rPr>
              <a:t>multipliers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6350508" y="2660904"/>
            <a:ext cx="82296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437376" y="2286000"/>
            <a:ext cx="1133856" cy="914400"/>
          </a:xfrm>
          <a:prstGeom prst="roundRect">
            <a:avLst>
              <a:gd name="adj" fmla="val 12000"/>
            </a:avLst>
          </a:prstGeom>
          <a:solidFill>
            <a:srgbClr val="F1EEFD"/>
          </a:solidFill>
          <a:ln w="12700">
            <a:solidFill>
              <a:srgbClr val="D9D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92240" y="2286000"/>
            <a:ext cx="102412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02729"/>
                </a:solidFill>
                <a:latin typeface="Manrope"/>
              </a:rPr>
              <a:t>Sort →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02729"/>
                </a:solidFill>
                <a:latin typeface="Manrope"/>
              </a:rPr>
              <a:t>Top 100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7575804" y="2660904"/>
            <a:ext cx="82296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662672" y="2286000"/>
            <a:ext cx="1133856" cy="914400"/>
          </a:xfrm>
          <a:prstGeom prst="roundRect">
            <a:avLst>
              <a:gd name="adj" fmla="val 12000"/>
            </a:avLst>
          </a:prstGeom>
          <a:solidFill>
            <a:srgbClr val="12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17536" y="2286000"/>
            <a:ext cx="102412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anrope"/>
              </a:rPr>
              <a:t>submission.csv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Manrope"/>
              </a:rPr>
              <a:t>+ reasons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310896" y="1417320"/>
            <a:ext cx="1828800" cy="2697480"/>
          </a:xfrm>
          <a:prstGeom prst="roundRect">
            <a:avLst>
              <a:gd name="adj" fmla="val 12000"/>
            </a:avLst>
          </a:prstGeom>
          <a:solidFill>
            <a:srgbClr val="10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84048" y="1481328"/>
            <a:ext cx="16824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C2A8"/>
                </a:solidFill>
                <a:latin typeface="Manrope"/>
              </a:rPr>
              <a:t>OFFLINE (once)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0C2A8"/>
                </a:solidFill>
                <a:latin typeface="Manrope"/>
              </a:rPr>
              <a:t>build_index.py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4048" y="2103120"/>
            <a:ext cx="1682496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Read every profile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↓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all-MiniLM-L6-v2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↓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embeddings.f16.npy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+ FAISS index</a:t>
            </a:r>
          </a:p>
        </p:txBody>
      </p:sp>
      <p:sp>
        <p:nvSpPr>
          <p:cNvPr id="102" name="Right Arrow 101"/>
          <p:cNvSpPr/>
          <p:nvPr/>
        </p:nvSpPr>
        <p:spPr>
          <a:xfrm>
            <a:off x="2194560" y="2651760"/>
            <a:ext cx="201168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505456" y="1417320"/>
            <a:ext cx="6327648" cy="2697480"/>
          </a:xfrm>
          <a:prstGeom prst="roundRect">
            <a:avLst>
              <a:gd name="adj" fmla="val 12000"/>
            </a:avLst>
          </a:prstGeom>
          <a:solidFill>
            <a:srgbClr val="F7F7FB"/>
          </a:solidFill>
          <a:ln w="12700">
            <a:solidFill>
              <a:srgbClr val="D9D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51760" y="148132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729"/>
                </a:solidFill>
                <a:latin typeface="Manrope"/>
              </a:rPr>
              <a:t>RANKING  ·  rank.py  ·  ~37 s  ·  CPU only, no network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670048" y="201168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24912" y="2066543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anrope"/>
              </a:rPr>
              <a:t>Dense semantic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cosine to JD query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224528" y="201168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2E4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79392" y="2066543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anrope"/>
              </a:rPr>
              <a:t>Structured fit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title · built · exp · loc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779008" y="201168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D8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833872" y="2066543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anrope"/>
              </a:rPr>
              <a:t>Integrity guards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honeypot &amp; stuffer kill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333488" y="201168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12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88352" y="2066543"/>
            <a:ext cx="1371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anrope"/>
              </a:rPr>
              <a:t>Behavioural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anrope"/>
              </a:rPr>
              <a:t>availability multiplier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670048" y="3154680"/>
            <a:ext cx="3017520" cy="77724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724912" y="315468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anrope"/>
              </a:rPr>
              <a:t>Combine → final score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anrope"/>
              </a:rPr>
              <a:t>fit × behavioural × guards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5760720" y="3456432"/>
            <a:ext cx="201168" cy="164592"/>
          </a:xfrm>
          <a:prstGeom prst="rightArrow">
            <a:avLst/>
          </a:prstGeom>
          <a:solidFill>
            <a:srgbClr val="6B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035040" y="315468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2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089904" y="3154680"/>
            <a:ext cx="2651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anrope"/>
              </a:rPr>
              <a:t>Top 100 + reasoning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anrope"/>
              </a:rPr>
              <a:t>→ submission.csv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Ranking quality (released 100K pool):  </a:t>
            </a:r>
            <a:r>
              <a:rPr sz="1250" b="0">
                <a:solidFill>
                  <a:srgbClr val="202729"/>
                </a:solidFill>
                <a:latin typeface="Manrope"/>
              </a:rPr>
              <a:t>top-100 is 100% engineering titles; 86/100 sit in the ideal 5–9-yr band (mean 6.5); Noida &amp; Pune are the #1 and #2 locations — exactly the JD's preference.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Trap resistance:  </a:t>
            </a:r>
            <a:r>
              <a:rPr sz="1250" b="0">
                <a:solidFill>
                  <a:srgbClr val="202729"/>
                </a:solidFill>
                <a:latin typeface="Manrope"/>
              </a:rPr>
              <a:t>0 honeypots and 0 keyword-stuffers in the top 100 (the spec disqualifies any submission with &gt;10% honeypots).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Meets every compute constraint:  </a:t>
            </a:r>
            <a:r>
              <a:rPr sz="1250" b="0">
                <a:solidFill>
                  <a:srgbClr val="202729"/>
                </a:solidFill>
                <a:latin typeface="Manrope"/>
              </a:rPr>
              <a:t>~37 s for 100K candidates on a 12-core CPU (limit is 5 min), ≤16 GB RAM, CPU-only, no network and no LLM API calls during ranking.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Production-shaped:  </a:t>
            </a:r>
            <a:r>
              <a:rPr sz="1250" b="0">
                <a:solidFill>
                  <a:srgbClr val="202729"/>
                </a:solidFill>
                <a:latin typeface="Manrope"/>
              </a:rPr>
              <a:t>heavy embedding is a one-time offline step (~20 min, allowed); the ranking step is pure fast array math and is byte-for-byte reproducible.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150" b="1">
                <a:solidFill>
                  <a:srgbClr val="6B46E6"/>
                </a:solidFill>
                <a:latin typeface="Manrope"/>
              </a:rPr>
              <a:t>▸  </a:t>
            </a:r>
            <a:r>
              <a:rPr sz="1150" b="1">
                <a:solidFill>
                  <a:srgbClr val="202729"/>
                </a:solidFill>
                <a:latin typeface="Manrope"/>
              </a:rPr>
              <a:t>Python 3  </a:t>
            </a:r>
            <a:r>
              <a:rPr sz="1150" b="0">
                <a:solidFill>
                  <a:srgbClr val="202729"/>
                </a:solidFill>
                <a:latin typeface="Manrope"/>
              </a:rPr>
              <a:t>— the whole system; clean and auditable.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6B46E6"/>
                </a:solidFill>
                <a:latin typeface="Manrope"/>
              </a:rPr>
              <a:t>▸  </a:t>
            </a:r>
            <a:r>
              <a:rPr sz="1150" b="1">
                <a:solidFill>
                  <a:srgbClr val="202729"/>
                </a:solidFill>
                <a:latin typeface="Manrope"/>
              </a:rPr>
              <a:t>sentence-transformers (all-MiniLM-L6-v2) + PyTorch (CPU)  </a:t>
            </a:r>
            <a:r>
              <a:rPr sz="1150" b="0">
                <a:solidFill>
                  <a:srgbClr val="202729"/>
                </a:solidFill>
                <a:latin typeface="Manrope"/>
              </a:rPr>
              <a:t>— turns each profile into a meaning-vector so we match by intent, not keywords; small and CPU-friendly.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6B46E6"/>
                </a:solidFill>
                <a:latin typeface="Manrope"/>
              </a:rPr>
              <a:t>▸  </a:t>
            </a:r>
            <a:r>
              <a:rPr sz="1150" b="1">
                <a:solidFill>
                  <a:srgbClr val="202729"/>
                </a:solidFill>
                <a:latin typeface="Manrope"/>
              </a:rPr>
              <a:t>FAISS  </a:t>
            </a:r>
            <a:r>
              <a:rPr sz="1150" b="0">
                <a:solidFill>
                  <a:srgbClr val="202729"/>
                </a:solidFill>
                <a:latin typeface="Manrope"/>
              </a:rPr>
              <a:t>— Facebook's similarity search; the vector-database / retrieval path.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6B46E6"/>
                </a:solidFill>
                <a:latin typeface="Manrope"/>
              </a:rPr>
              <a:t>▸  </a:t>
            </a:r>
            <a:r>
              <a:rPr sz="1150" b="1">
                <a:solidFill>
                  <a:srgbClr val="202729"/>
                </a:solidFill>
                <a:latin typeface="Manrope"/>
              </a:rPr>
              <a:t>NumPy  </a:t>
            </a:r>
            <a:r>
              <a:rPr sz="1150" b="0">
                <a:solidFill>
                  <a:srgbClr val="202729"/>
                </a:solidFill>
                <a:latin typeface="Manrope"/>
              </a:rPr>
              <a:t>— all scoring is fast array math, which is why ranking takes seconds.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6B46E6"/>
                </a:solidFill>
                <a:latin typeface="Manrope"/>
              </a:rPr>
              <a:t>▸  </a:t>
            </a:r>
            <a:r>
              <a:rPr sz="1150" b="1">
                <a:solidFill>
                  <a:srgbClr val="202729"/>
                </a:solidFill>
                <a:latin typeface="Manrope"/>
              </a:rPr>
              <a:t>scikit-learn  </a:t>
            </a:r>
            <a:r>
              <a:rPr sz="1150" b="0">
                <a:solidFill>
                  <a:srgbClr val="202729"/>
                </a:solidFill>
                <a:latin typeface="Manrope"/>
              </a:rPr>
              <a:t>— TF-IDF fallback so the pipeline runs even without the model present.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sz="1150" b="1">
                <a:solidFill>
                  <a:srgbClr val="6B46E6"/>
                </a:solidFill>
                <a:latin typeface="Manrope"/>
              </a:rPr>
              <a:t>▸  </a:t>
            </a:r>
            <a:r>
              <a:rPr sz="1150" b="1">
                <a:solidFill>
                  <a:srgbClr val="202729"/>
                </a:solidFill>
                <a:latin typeface="Manrope"/>
              </a:rPr>
              <a:t>Streamlit  </a:t>
            </a:r>
            <a:r>
              <a:rPr sz="1150" b="0">
                <a:solidFill>
                  <a:srgbClr val="202729"/>
                </a:solidFill>
                <a:latin typeface="Manrope"/>
              </a:rPr>
              <a:t>— the interactive sandbox demo. Why this stack: free, lightweight, CPU-only, no paid APIs, fully reproducible.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GitHub repository:  </a:t>
            </a:r>
            <a:r>
              <a:rPr sz="1250" b="0">
                <a:solidFill>
                  <a:srgbClr val="202729"/>
                </a:solidFill>
                <a:latin typeface="Manrope"/>
              </a:rPr>
              <a:t>github.com/akashboddula2425-hub/AI-candidate-ranking-system  (code, README, requirements, reproduce command).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Sandbox / demo:  </a:t>
            </a:r>
            <a:r>
              <a:rPr sz="1250" b="0">
                <a:solidFill>
                  <a:srgbClr val="202729"/>
                </a:solidFill>
                <a:latin typeface="Manrope"/>
              </a:rPr>
              <a:t>Live (GitHub Pages): akashboddula2425-hub.github.io/AI-candidate-ranking-system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Ranked output:  </a:t>
            </a:r>
            <a:r>
              <a:rPr sz="1250" b="0">
                <a:solidFill>
                  <a:srgbClr val="202729"/>
                </a:solidFill>
                <a:latin typeface="Manrope"/>
              </a:rPr>
              <a:t>submission.csv  (top 100 candidates, validated format).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Reproduce command:  </a:t>
            </a:r>
            <a:r>
              <a:rPr sz="1250" b="0">
                <a:solidFill>
                  <a:srgbClr val="202729"/>
                </a:solidFill>
                <a:latin typeface="Manrope"/>
              </a:rPr>
              <a:t>python rank.py --candidates ./candidates.jsonl --out ./submission.csv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250" b="1">
                <a:solidFill>
                  <a:srgbClr val="6B46E6"/>
                </a:solidFill>
                <a:latin typeface="Manrope"/>
              </a:rPr>
              <a:t>▸  </a:t>
            </a:r>
            <a:r>
              <a:rPr sz="1250" b="1">
                <a:solidFill>
                  <a:srgbClr val="202729"/>
                </a:solidFill>
                <a:latin typeface="Manrope"/>
              </a:rPr>
              <a:t>Documentation:  </a:t>
            </a:r>
            <a:r>
              <a:rPr sz="1250" b="0">
                <a:solidFill>
                  <a:srgbClr val="202729"/>
                </a:solidFill>
                <a:latin typeface="Manrope"/>
              </a:rPr>
              <a:t>approach deck + detailed project guide (PDF) included in /docs.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